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FAC-49B2-B469-CD2474989B3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AC-49B2-B469-CD2474989B31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AC-49B2-B469-CD2474989B31}"/>
              </c:ext>
            </c:extLst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AC-49B2-B469-CD2474989B31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FAC-49B2-B469-CD2474989B31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FAC-49B2-B469-CD2474989B31}"/>
              </c:ext>
            </c:extLst>
          </c:dPt>
          <c:dPt>
            <c:idx val="6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FAC-49B2-B469-CD2474989B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Fitness</c:v>
                </c:pt>
                <c:pt idx="1">
                  <c:v>Diet</c:v>
                </c:pt>
                <c:pt idx="2">
                  <c:v>Weight Management</c:v>
                </c:pt>
                <c:pt idx="3">
                  <c:v>Sleep</c:v>
                </c:pt>
                <c:pt idx="4">
                  <c:v>Mental Health</c:v>
                </c:pt>
                <c:pt idx="5">
                  <c:v>Substance Use</c:v>
                </c:pt>
                <c:pt idx="6">
                  <c:v>Diabetes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3434</c:v>
                </c:pt>
                <c:pt idx="1">
                  <c:v>3243</c:v>
                </c:pt>
                <c:pt idx="2">
                  <c:v>3053</c:v>
                </c:pt>
                <c:pt idx="3">
                  <c:v>2671</c:v>
                </c:pt>
                <c:pt idx="4">
                  <c:v>2480</c:v>
                </c:pt>
                <c:pt idx="5">
                  <c:v>2290</c:v>
                </c:pt>
                <c:pt idx="6">
                  <c:v>1909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FAC-49B2-B469-CD2474989B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42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93962" y="379476"/>
            <a:ext cx="3165231" cy="82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II - BCSE498J 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7113" y="1159181"/>
            <a:ext cx="7673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 for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Lifestyle-Related Health Risks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Text Analytics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3006053"/>
            <a:ext cx="1878037" cy="110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2C39A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Team Members
</a:t>
            </a:r>
            <a:r>
              <a:rPr lang="en-US" sz="1200" dirty="0">
                <a:solidFill>
                  <a:schemeClr val="bg1"/>
                </a:solidFill>
              </a:rPr>
              <a:t>Abhay Singh (22BCE0490) 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Manas Joshi (22BCE2573) 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Yagnit Mahajan (22BCE2588)</a:t>
            </a:r>
            <a:r>
              <a:rPr lang="en-US" sz="1200" dirty="0"/>
              <a:t>
</a:t>
            </a:r>
            <a:r>
              <a:rPr lang="en-US" sz="1200" b="1" dirty="0">
                <a:solidFill>
                  <a:srgbClr val="02C39A"/>
                </a:solidFill>
              </a:rPr>
              <a:t>
</a:t>
            </a:r>
            <a:r>
              <a:rPr lang="en-US" sz="1200" dirty="0">
                <a:solidFill>
                  <a:srgbClr val="FFFFFF"/>
                </a:solidFill>
              </a:rPr>
              <a:t>
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1371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66E27-A2D8-D179-B478-ED3280486958}"/>
              </a:ext>
            </a:extLst>
          </p:cNvPr>
          <p:cNvSpPr txBox="1"/>
          <p:nvPr/>
        </p:nvSpPr>
        <p:spPr>
          <a:xfrm>
            <a:off x="3348112" y="2913264"/>
            <a:ext cx="3355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2C39A"/>
                </a:solidFill>
              </a:rPr>
              <a:t>Supervisor
</a:t>
            </a:r>
            <a:r>
              <a:rPr lang="en-US" sz="1200" dirty="0">
                <a:solidFill>
                  <a:srgbClr val="FFFFFF"/>
                </a:solidFill>
              </a:rPr>
              <a:t>Dr. Yoganand S   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Assistant Professor Sr. Grade 1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304A0A-BC1B-B71A-B10B-6D57E3E8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15" y="269518"/>
            <a:ext cx="1783080" cy="17793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CFB34A-49EE-0F32-4E1B-89A627143203}"/>
              </a:ext>
            </a:extLst>
          </p:cNvPr>
          <p:cNvSpPr txBox="1"/>
          <p:nvPr/>
        </p:nvSpPr>
        <p:spPr>
          <a:xfrm>
            <a:off x="6084276" y="2861845"/>
            <a:ext cx="300345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A0C4FF"/>
                </a:solidFill>
              </a:rPr>
              <a:t>School of Computer Science and Engineering (SCOPE)</a:t>
            </a:r>
            <a:endParaRPr lang="en-US" sz="1100" dirty="0"/>
          </a:p>
          <a:p>
            <a:r>
              <a:rPr lang="en-US" sz="1100" dirty="0">
                <a:solidFill>
                  <a:srgbClr val="A0C4FF"/>
                </a:solidFill>
              </a:rPr>
              <a:t>Vellore Institute of Technology, Vellore </a:t>
            </a:r>
          </a:p>
          <a:p>
            <a:r>
              <a:rPr lang="en-US" sz="1100" dirty="0">
                <a:solidFill>
                  <a:srgbClr val="A0C4FF"/>
                </a:solidFill>
              </a:rPr>
              <a:t>April 2026</a:t>
            </a:r>
            <a:endParaRPr lang="en-US" sz="1100" dirty="0"/>
          </a:p>
          <a:p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7548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1381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740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1014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motivation, and the healthcare gap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270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527048"/>
            <a:ext cx="47548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6550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hybrid design and HLD overview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6829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7548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4963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6112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19,080 Reddit posts — EDA and preprocessing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954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47548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337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3264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Hybrid Scoring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novel contribution — text + clinical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5079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475488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17880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6112" y="4105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6112" y="4379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93–95% accuracy across three production models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6858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685800"/>
            <a:ext cx="47548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81381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30952" y="740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Leakage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30952" y="10149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0.4912 collapse proves model learns vocabulary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15270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1527048"/>
            <a:ext cx="47548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16550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30952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Label Analysis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30952" y="1856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validation across 7 categories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36829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00600" y="2368296"/>
            <a:ext cx="47548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24963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0952" y="2423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330952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and frontend transparency tools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20954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00600" y="3209544"/>
            <a:ext cx="47548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3337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30952" y="3264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330952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pre-tested scenarios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405079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00600" y="4050792"/>
            <a:ext cx="47548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00600" y="417880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30952" y="4105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330952" y="4379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limitations,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Background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27432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Health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obesity, and heart disease develop silently over years. Poor diet, inactivity, inadequate sleep, and chronic stress are the primary drivers — yet most people receive no warning until clinical threshold is crossed.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621792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621792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749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11887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treat diseases after onset. Routine checkups happen only when symptoms appear. Vast amounts of self-reported lifestyle text go completely unanalysed for early risk signals.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621792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89904" y="621792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749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27064" y="11887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machine learning applied to Reddit lifestyle discourse. A two-layer hybrid scoring architecture combining text ensemble classification with SHAP-validated clinical feature scoring.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041648"/>
            <a:ext cx="85953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Poor Diet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Inactivity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Sleep Deprivation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Chronic Stress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Smoking &amp; Alcohol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9359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Healthcare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5272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burden of lifestyle diseases demands early-detection systems that act before clinical thresholds are crossed — reducing both human and economic cost.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95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847051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Opportunity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5272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NLP, machine learning, and data analytics to real-world health data bridges theoretical knowledge and practical impact in a high-value 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6148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843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29310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Trends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35584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data-driven approaches are reshaping medicine. AI systems that interpret lifestyle patterns align directly with where evidence-based healthcare is heading.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761488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2852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355848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helps individuals understand their own health trajectory — before a condition develops — empowers proactive, informed lifestyle choices.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Gaps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844413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in Literature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223713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7180" y="1223713"/>
            <a:ext cx="4572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rely on structured clinical data - not self-reported lifestyle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" y="182176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5972" y="1821766"/>
            <a:ext cx="4572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852978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trained on health text risk learning subreddit vocabulary, not true risk signals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8832" y="2460791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0697" y="2452526"/>
            <a:ext cx="4572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496223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cross-modal validation between text-based and feature-based scoring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074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83112" y="3083286"/>
            <a:ext cx="4572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4803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 for end-users in healthcare AI tools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8549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40348" y="1226789"/>
            <a:ext cx="4283612" cy="235616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7276" y="122147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Reddit-sourced lifestyle text (unstructured data)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7276" y="182614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Two-layer hybrid: NLP ensemble + clinical feature scoring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7276" y="2402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Vocabulary leakage test proves model validity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996" y="304931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explainability + interactive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 &amp; Goals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9659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658368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658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658368"/>
            <a:ext cx="2697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6583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658368"/>
            <a:ext cx="9601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01000" y="6583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078992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12471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(LR, RF, SVM)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31720" y="107899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3160" y="11247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effective on structured health 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107899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1247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feature engineering; poor on unstructured 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1078992"/>
            <a:ext cx="960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01000" y="112471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0.82–0.88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947672"/>
            <a:ext cx="196596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99339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(CNN-LSTM)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1720" y="1947672"/>
            <a:ext cx="269748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2316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and sequence patterns; strong for mental health text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20640" y="1947672"/>
            <a:ext cx="269748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labelled datasets; low interpretability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909560" y="1947672"/>
            <a:ext cx="96012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01000" y="199339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816352"/>
            <a:ext cx="1965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8620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Transformers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31720" y="281635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23160" y="28620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text understanding; state-of-art on EHR 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20640" y="281635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12080" y="28620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heavy; not designed for short social media posts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2816352"/>
            <a:ext cx="960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01000" y="286207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+5–10%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685032"/>
            <a:ext cx="196596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37307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NLP + Rules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31720" y="3685032"/>
            <a:ext cx="269748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23160" y="3730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vocabulary features with domain knowledge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20640" y="3685032"/>
            <a:ext cx="269748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12080" y="3730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leakage risk — learns subreddit keywords, not true risk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3685032"/>
            <a:ext cx="960120" cy="804672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01000" y="3730752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460857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Using NLP text ensemble with </a:t>
            </a:r>
            <a:r>
              <a:rPr lang="en-US" sz="1100" i="1" dirty="0">
                <a:solidFill>
                  <a:schemeClr val="bg1"/>
                </a:solidFill>
              </a:rPr>
              <a:t>SHAP-derived clinical feature scoring and validating via vocabulary leakage testing is a novel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859536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 =  0.50 × Text Ensemble Score  +  0.50 × Clinical Feature Score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15544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3898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9933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19,080 posts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10512" y="1901952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93392" y="1325880"/>
            <a:ext cx="1554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93392" y="13898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19933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· Lemmatize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stopwords removed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47872" y="1901952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30752" y="1325880"/>
            <a:ext cx="1554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30752" y="13898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Ensemble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30752" y="19933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LR · TF-IDF RF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SBERT+SVM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85232" y="1901952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68112" y="1325880"/>
            <a:ext cx="155448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68112" y="13898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(50%)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19933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SHAP-weighted: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Smoke·Sleep·Stress…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22592" y="1901952"/>
            <a:ext cx="18288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05472" y="1325880"/>
            <a:ext cx="15544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05472" y="13898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05472" y="199339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Behavioral Override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Groq Narrative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Built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3101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1012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34670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 +  Logistic Regression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584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text classifier · AUC 0.9837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82112" y="33101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82112" y="331012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91840" y="334670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 +  Random Forest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584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variant · AUC 0.9737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9904" y="331012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089904" y="331012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99632" y="334670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+ SVM (Tuned)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99632" y="35844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· AUC 0.9883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95020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9867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 Scoring Layer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422452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SHAP-derived weights · 6 features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182112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82112" y="395020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91840" y="39867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Override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91840" y="422452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floor when 2+ signals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9904" y="3950208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089904" y="3950208"/>
            <a:ext cx="457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99632" y="3986784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Narrative Generation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99632" y="422452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risk explanation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19202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19,080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241755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Posts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658368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41448" y="731520"/>
            <a:ext cx="19202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41448" y="1241755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Categories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658368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08576" y="731520"/>
            <a:ext cx="19202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08576" y="1241755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2023 – Jan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75704" y="658368"/>
            <a:ext cx="192024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1142" y="811987"/>
            <a:ext cx="1769364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words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75704" y="1241755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Post Length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810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Composition by Category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274320" y="2148840"/>
          <a:ext cx="50292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5486400" y="1783080"/>
            <a:ext cx="33832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Insights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778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Engagement: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86600" y="2267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management posts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2724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Engagement: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86600" y="2724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Sleep-related posts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Active Source: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086600" y="3182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subreddit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57784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Length Range: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86600" y="36393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50–3,000+ characters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77840" y="4096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Distribution: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086600" y="40965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— imbalance handled via stratified split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658368"/>
            <a:ext cx="19659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658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URLs, HTML tags, special characters, and Reddit formatting artefacts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658368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658368"/>
            <a:ext cx="19659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658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2888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1572768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cleaned text into individual tokens using NLTK word tokenizer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90288" y="658368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0288" y="658368"/>
            <a:ext cx="19659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0288" y="658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0016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0016" y="1572768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list of 244 domain-specific stopwords — preserving health signal terms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57416" y="658368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57416" y="658368"/>
            <a:ext cx="196596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57416" y="65836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67144" y="1170432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67144" y="1572768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WordNet lemmatizer — normalized all tokens to base form to reduce vocabulary sparsity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2186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Results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1353312" cy="12618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74320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Reduction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19072" y="3584448"/>
            <a:ext cx="1353312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719072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719072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Reduction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63824" y="3584448"/>
            <a:ext cx="1353312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63824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19,060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163824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Posts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08576" y="3584448"/>
            <a:ext cx="1353312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08576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608576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53328" y="3584448"/>
            <a:ext cx="1353312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53328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40,800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053328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Terms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0" y="3584448"/>
            <a:ext cx="1353312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98080" y="365760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0.855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498080" y="4224528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Diversity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Hybrid Scoring — Core Novel Contribution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023360" cy="2011680"/>
          </a:xfrm>
          <a:prstGeom prst="rect">
            <a:avLst/>
          </a:prstGeom>
          <a:solidFill>
            <a:srgbClr val="1622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Text Ensemble (50%)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LR  →  P₁ = p(high | TF-IDF features)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TF-IDF RF  →  P₂ = p(high | TF-IDF features)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SBERT+SVM →  P₃ = p(high | SBERT embeddings)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TextScore  =  (0.4*P₁ + 0.25*P₂ + 0.35*P₃) / 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170432"/>
            <a:ext cx="4023360" cy="2011680"/>
          </a:xfrm>
          <a:prstGeom prst="rect">
            <a:avLst/>
          </a:prstGeom>
          <a:solidFill>
            <a:srgbClr val="16223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2161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Clinical Feature Score (50%)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6642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664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16642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1664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0482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0482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0482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24323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2432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43230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7680" y="2011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85953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3558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 =  0.50 × TextScore  +  0.50 ×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ClinicalScore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04164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 weights derived from Kaggle SHAP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2743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274320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82112" y="621792"/>
            <a:ext cx="2743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621792"/>
            <a:ext cx="274320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73552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RF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73552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90.45%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7355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73552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0.9050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73552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3552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73552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9904" y="621792"/>
            <a:ext cx="2743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621792"/>
            <a:ext cx="2743200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81344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+ SVM Tuned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81344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94.94%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81344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81344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81344" y="19933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81344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181344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64224" y="2816352"/>
            <a:ext cx="2194560" cy="1645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2944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Test Set (3,812 samples)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310128"/>
            <a:ext cx="192024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383280"/>
            <a:ext cx="192024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74320" y="3957157"/>
            <a:ext cx="1920240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41448" y="3310128"/>
            <a:ext cx="1920240" cy="11155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41448" y="3383280"/>
            <a:ext cx="192024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441448" y="3957157"/>
            <a:ext cx="1920240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08576" y="3310128"/>
            <a:ext cx="192024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08576" y="3383280"/>
            <a:ext cx="192024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6.19%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4608576" y="3957157"/>
            <a:ext cx="1920240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Error Rate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75704" y="3310128"/>
            <a:ext cx="1920240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75704" y="3383280"/>
            <a:ext cx="1920240" cy="647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3,576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6775704" y="3957157"/>
            <a:ext cx="1920240" cy="42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517136"/>
            <a:ext cx="8595360" cy="411480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accuracy: Fitness 99.0% (best)  ·  Diabetes 88.9% (most challenging — clinical management vocabulary present)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Leakage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0" y="731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17830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1353312"/>
            <a:ext cx="10515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21992" y="13533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353312"/>
            <a:ext cx="10515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35331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353312"/>
            <a:ext cx="47091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7992" y="135331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73936"/>
            <a:ext cx="1783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81965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Labels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1773936"/>
            <a:ext cx="1051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21992" y="181965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93.81%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773936"/>
            <a:ext cx="1051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1819656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773936"/>
            <a:ext cx="4709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07992" y="1819656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— model trained correctly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32304"/>
            <a:ext cx="178308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478024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Swap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48840" y="2432304"/>
            <a:ext cx="105156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21992" y="247802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95.07%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2432304"/>
            <a:ext cx="105156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64992" y="247802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2432304"/>
            <a:ext cx="4709160" cy="59436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07992" y="2478024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swapped between two categories — still high — vocabulary leaked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090672"/>
            <a:ext cx="178308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7472" y="313639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Shuffle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48840" y="3090672"/>
            <a:ext cx="105156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21992" y="313639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54.56%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3090672"/>
            <a:ext cx="105156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64992" y="3136392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34840" y="3090672"/>
            <a:ext cx="470916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07992" y="313639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 collapse - model learned vocabulary, not risk signals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767328"/>
            <a:ext cx="859536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409651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label shuffling collapses performance to chance, confirming text models learned subreddit vocabulary patterns rather than true health risk signals.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motivated the clinical feature scoring layer - ensuring the final score reflects actual risk indicators validated through SHAP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Label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28016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9192" y="12801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96512" y="12801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Siler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13832" y="128016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Type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79192" y="171907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96512" y="171907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13832" y="171907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213969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79192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96512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21396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25603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79192" y="2560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96512" y="2560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13832" y="25603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7472" y="29809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79192" y="298094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13832" y="298094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679192" y="340156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45836" y="338962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47472" y="382219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679192" y="3822192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47472" y="424281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679192" y="424281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513832" y="424281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995160" y="1280160"/>
            <a:ext cx="1874520" cy="35844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4088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040880" y="1938528"/>
            <a:ext cx="1737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silver labels confirm Low Risk categories are correctly labelled.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categories — particularly Diabetes — contain clinical management vocabulary (insulin dosing, medication adherence) rather than active lifestyle risk signals.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explains the 0% agreement and validates the need for hybrid scoring.</a:t>
            </a:r>
            <a:endParaRPr lang="en-US" sz="9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83C301-2511-AA32-DC1D-CB9A3EACF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975908"/>
              </p:ext>
            </p:extLst>
          </p:nvPr>
        </p:nvGraphicFramePr>
        <p:xfrm>
          <a:off x="234189" y="1380393"/>
          <a:ext cx="6658101" cy="27892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478">
                  <a:extLst>
                    <a:ext uri="{9D8B030D-6E8A-4147-A177-3AD203B41FA5}">
                      <a16:colId xmlns:a16="http://schemas.microsoft.com/office/drawing/2014/main" val="1584827828"/>
                    </a:ext>
                  </a:extLst>
                </a:gridCol>
                <a:gridCol w="942917">
                  <a:extLst>
                    <a:ext uri="{9D8B030D-6E8A-4147-A177-3AD203B41FA5}">
                      <a16:colId xmlns:a16="http://schemas.microsoft.com/office/drawing/2014/main" val="4061109314"/>
                    </a:ext>
                  </a:extLst>
                </a:gridCol>
                <a:gridCol w="1099614">
                  <a:extLst>
                    <a:ext uri="{9D8B030D-6E8A-4147-A177-3AD203B41FA5}">
                      <a16:colId xmlns:a16="http://schemas.microsoft.com/office/drawing/2014/main" val="1292153311"/>
                    </a:ext>
                  </a:extLst>
                </a:gridCol>
                <a:gridCol w="1096918">
                  <a:extLst>
                    <a:ext uri="{9D8B030D-6E8A-4147-A177-3AD203B41FA5}">
                      <a16:colId xmlns:a16="http://schemas.microsoft.com/office/drawing/2014/main" val="2173050295"/>
                    </a:ext>
                  </a:extLst>
                </a:gridCol>
                <a:gridCol w="1126477">
                  <a:extLst>
                    <a:ext uri="{9D8B030D-6E8A-4147-A177-3AD203B41FA5}">
                      <a16:colId xmlns:a16="http://schemas.microsoft.com/office/drawing/2014/main" val="2315374513"/>
                    </a:ext>
                  </a:extLst>
                </a:gridCol>
                <a:gridCol w="1111697">
                  <a:extLst>
                    <a:ext uri="{9D8B030D-6E8A-4147-A177-3AD203B41FA5}">
                      <a16:colId xmlns:a16="http://schemas.microsoft.com/office/drawing/2014/main" val="720687895"/>
                    </a:ext>
                  </a:extLst>
                </a:gridCol>
              </a:tblGrid>
              <a:tr h="91581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Health Category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Original Label (Subreddit Basis)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Silver Label Mean Score (Feature Basis)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Silver Label Predominant Risk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Agreement %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Disagreement Status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7267186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Fitness</a:t>
                      </a:r>
                      <a:endParaRPr lang="en-US" sz="110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0.39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100.00%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Agrees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91808248"/>
                  </a:ext>
                </a:extLst>
              </a:tr>
              <a:tr h="2505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Weight Management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0.44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100.00%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Agrees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61074158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Diet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0.28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99.30%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Agrees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73444015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Sleep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0.53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97.20%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Agrees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9229004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Substance Use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Risk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2.97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19.60%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Disagrees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85902797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Mental Health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Risk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0.64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5.60%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Disagrees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42317083"/>
                  </a:ext>
                </a:extLst>
              </a:tr>
              <a:tr h="2704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Diabetes</a:t>
                      </a:r>
                      <a:endParaRPr lang="en-US" sz="11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High Risk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0.22</a:t>
                      </a:r>
                      <a:endParaRPr lang="en-US" sz="11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00B050"/>
                          </a:solidFill>
                          <a:effectLst/>
                        </a:rPr>
                        <a:t>Low Risk</a:t>
                      </a:r>
                      <a:endParaRPr lang="en-US" sz="1100" b="0" i="0" u="none" strike="noStrike" dirty="0">
                        <a:solidFill>
                          <a:srgbClr val="00B05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0.00%</a:t>
                      </a:r>
                      <a:endParaRPr lang="en-US" sz="11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Disagrees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822038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54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41605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69494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- Structured Feature Importance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BMI: strongest predictor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second highest SHAP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status: third most impactful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features confirmed in TF-IDF coefficients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1605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69494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- Top Text Predictors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11556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words: diabetes +0.026, insulin +0.025, diagnosed +0.022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words: keto −0.077, goal −0.034, fasting −0.032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Cross-modal: LIME lexical findings confirm SHAP structured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9864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98648"/>
            <a:ext cx="4160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93522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35584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8 SHAP-identified structured features appear as high-weight TF-IDF terms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leakage test confirms signal integrity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 weights verified against literature benchmarks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898648"/>
            <a:ext cx="4160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898648"/>
            <a:ext cx="41605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293522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Explainability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335584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Highlighter — risk-contributing terms highlighted in post 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Breakdown — text vs. clinical contribution shown separately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— toggle lifestyle features to see score 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Panel — full scoring trace shown per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2120" y="685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1133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1581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975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2231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28163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30723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3264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4105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287C3B-21EC-2E56-1BFD-1EB2DD207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5217"/>
            <a:ext cx="3870187" cy="191510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605E7E-38BA-1035-1B23-64A65BABA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546" y="645217"/>
            <a:ext cx="3870187" cy="40313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F662D19-729C-3EE0-544D-A660A9F96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761487"/>
            <a:ext cx="3870187" cy="19151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17220"/>
            <a:ext cx="4160520" cy="3291840"/>
          </a:xfrm>
          <a:prstGeom prst="rect">
            <a:avLst/>
          </a:prstGeom>
          <a:solidFill>
            <a:srgbClr val="16223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0287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hybrid scoring architecture combining NLP ensemble (3 models) with SHAP-validated clinical feature scoring - achieving up to 94.94% accuracy and AUC 0.9883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039112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91109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leakage proof demonstrating text models learn subreddit patterns - directly motivating and validating the clinical scoring layer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07792"/>
            <a:ext cx="3200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68833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validation: 7 of 8 SHAP-identified structured features independently confirmed in TF-IDF term weights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617220"/>
            <a:ext cx="4160520" cy="3291840"/>
          </a:xfrm>
          <a:prstGeom prst="rect">
            <a:avLst/>
          </a:prstGeom>
          <a:solidFill>
            <a:srgbClr val="16223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713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17043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70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10378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gold standard annotation — replace Reddit-derived silver labels with expert-validated clinical risk labels for supervised benchmarking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03911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93395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feature extraction — move from TF-IDF bag-of-words to contextual embeddings that capture risk semantics rather than community vocabulary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907792"/>
            <a:ext cx="3200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278681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— extend preprocessing and model training to support non-English lifestyle discourse for broader population coverage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2441</TotalTime>
  <Words>1622</Words>
  <Application>Microsoft Office PowerPoint</Application>
  <PresentationFormat>On-screen Show (16:9)</PresentationFormat>
  <Paragraphs>377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Warning System for Lifestyle-Related Health Risks Using Text Analytics</dc:title>
  <dc:subject>PptxGenJS Presentation</dc:subject>
  <dc:creator>PptxGenJS</dc:creator>
  <cp:lastModifiedBy>Yagnit Mahajan</cp:lastModifiedBy>
  <cp:revision>4</cp:revision>
  <dcterms:created xsi:type="dcterms:W3CDTF">2026-04-22T02:44:40Z</dcterms:created>
  <dcterms:modified xsi:type="dcterms:W3CDTF">2026-04-27T01:18:27Z</dcterms:modified>
</cp:coreProperties>
</file>